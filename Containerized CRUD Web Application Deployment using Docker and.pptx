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58" r:id="rId4"/>
    <p:sldId id="263" r:id="rId5"/>
    <p:sldId id="259" r:id="rId6"/>
    <p:sldId id="260" r:id="rId7"/>
    <p:sldId id="261" r:id="rId8"/>
    <p:sldId id="262"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0F3C57-5A23-436D-ACD6-6DBE2CCA8E78}" type="datetimeFigureOut">
              <a:rPr lang="en-IN" smtClean="0"/>
              <a:t>27-02-2026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F99B6-AA78-4CDA-946F-692C10E26021}" type="slidenum">
              <a:rPr lang="en-IN" smtClean="0"/>
              <a:t>‹#›</a:t>
            </a:fld>
            <a:endParaRPr lang="en-IN"/>
          </a:p>
        </p:txBody>
      </p:sp>
    </p:spTree>
    <p:extLst>
      <p:ext uri="{BB962C8B-B14F-4D97-AF65-F5344CB8AC3E}">
        <p14:creationId xmlns:p14="http://schemas.microsoft.com/office/powerpoint/2010/main" val="2523171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55F99B6-AA78-4CDA-946F-692C10E26021}" type="slidenum">
              <a:rPr lang="en-IN" smtClean="0"/>
              <a:t>3</a:t>
            </a:fld>
            <a:endParaRPr lang="en-IN"/>
          </a:p>
        </p:txBody>
      </p:sp>
    </p:spTree>
    <p:extLst>
      <p:ext uri="{BB962C8B-B14F-4D97-AF65-F5344CB8AC3E}">
        <p14:creationId xmlns:p14="http://schemas.microsoft.com/office/powerpoint/2010/main" val="2711183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2/27/2026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2/27/2026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2/27/2026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2/27/2026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2/27/2026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2/27/2026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2/27/2026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58E70-EBC6-1C9B-322C-D195DD246777}"/>
              </a:ext>
            </a:extLst>
          </p:cNvPr>
          <p:cNvSpPr>
            <a:spLocks noGrp="1"/>
          </p:cNvSpPr>
          <p:nvPr>
            <p:ph type="ctrTitle"/>
          </p:nvPr>
        </p:nvSpPr>
        <p:spPr>
          <a:xfrm>
            <a:off x="1806973" y="116970"/>
            <a:ext cx="8361229" cy="2098226"/>
          </a:xfrm>
        </p:spPr>
        <p:txBody>
          <a:bodyPr/>
          <a:lstStyle/>
          <a:p>
            <a:r>
              <a:rPr lang="en-US" sz="2400" b="1" dirty="0"/>
              <a:t>Containerized CRUD Web Application Deployment using Docker and Kubernetes</a:t>
            </a:r>
            <a:endParaRPr lang="en-IN" sz="2400" dirty="0"/>
          </a:p>
        </p:txBody>
      </p:sp>
      <p:sp>
        <p:nvSpPr>
          <p:cNvPr id="3" name="Subtitle 2">
            <a:extLst>
              <a:ext uri="{FF2B5EF4-FFF2-40B4-BE49-F238E27FC236}">
                <a16:creationId xmlns:a16="http://schemas.microsoft.com/office/drawing/2014/main" id="{F2BE881D-566F-1BA7-FEB8-FEBE2FF6BB52}"/>
              </a:ext>
            </a:extLst>
          </p:cNvPr>
          <p:cNvSpPr>
            <a:spLocks noGrp="1"/>
          </p:cNvSpPr>
          <p:nvPr>
            <p:ph type="subTitle" idx="1"/>
          </p:nvPr>
        </p:nvSpPr>
        <p:spPr>
          <a:xfrm>
            <a:off x="2571750" y="2885881"/>
            <a:ext cx="6831673" cy="2167900"/>
          </a:xfrm>
        </p:spPr>
        <p:txBody>
          <a:bodyPr>
            <a:normAutofit/>
          </a:bodyPr>
          <a:lstStyle/>
          <a:p>
            <a:r>
              <a:rPr lang="en-US" sz="2800" i="1" dirty="0">
                <a:solidFill>
                  <a:srgbClr val="002060"/>
                </a:solidFill>
              </a:rPr>
              <a:t>Library Management System </a:t>
            </a:r>
            <a:br>
              <a:rPr lang="en-US" sz="2800" i="1" dirty="0">
                <a:solidFill>
                  <a:srgbClr val="002060"/>
                </a:solidFill>
              </a:rPr>
            </a:br>
            <a:br>
              <a:rPr lang="en-US" sz="2800" i="1" dirty="0">
                <a:solidFill>
                  <a:srgbClr val="002060"/>
                </a:solidFill>
              </a:rPr>
            </a:br>
            <a:r>
              <a:rPr lang="en-IN" dirty="0"/>
              <a:t>Presented by: Aman Raj</a:t>
            </a:r>
          </a:p>
          <a:p>
            <a:r>
              <a:rPr lang="en-IN" dirty="0"/>
              <a:t>Date: 27</a:t>
            </a:r>
            <a:r>
              <a:rPr lang="en-IN" baseline="30000" dirty="0"/>
              <a:t>th</a:t>
            </a:r>
            <a:r>
              <a:rPr lang="en-IN" dirty="0"/>
              <a:t> February     </a:t>
            </a:r>
          </a:p>
          <a:p>
            <a:endParaRPr lang="en-IN" sz="2800" dirty="0">
              <a:solidFill>
                <a:srgbClr val="002060"/>
              </a:solidFill>
            </a:endParaRPr>
          </a:p>
        </p:txBody>
      </p:sp>
    </p:spTree>
    <p:extLst>
      <p:ext uri="{BB962C8B-B14F-4D97-AF65-F5344CB8AC3E}">
        <p14:creationId xmlns:p14="http://schemas.microsoft.com/office/powerpoint/2010/main" val="3953998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9006A-B0F6-8410-CF94-48A2CF5AC32E}"/>
              </a:ext>
            </a:extLst>
          </p:cNvPr>
          <p:cNvSpPr>
            <a:spLocks noGrp="1"/>
          </p:cNvSpPr>
          <p:nvPr>
            <p:ph type="title"/>
          </p:nvPr>
        </p:nvSpPr>
        <p:spPr>
          <a:xfrm>
            <a:off x="1371600" y="501521"/>
            <a:ext cx="9601200" cy="1485900"/>
          </a:xfrm>
        </p:spPr>
        <p:txBody>
          <a:bodyPr>
            <a:normAutofit/>
          </a:bodyPr>
          <a:lstStyle/>
          <a:p>
            <a:r>
              <a:rPr lang="en-US" b="1" u="sng" dirty="0">
                <a:solidFill>
                  <a:schemeClr val="accent5">
                    <a:lumMod val="50000"/>
                  </a:schemeClr>
                </a:solidFill>
              </a:rPr>
              <a:t>Introduction to Library Management System</a:t>
            </a:r>
            <a:endParaRPr lang="en-IN" b="1" u="sng" dirty="0">
              <a:solidFill>
                <a:schemeClr val="accent5">
                  <a:lumMod val="50000"/>
                </a:schemeClr>
              </a:solidFill>
            </a:endParaRPr>
          </a:p>
        </p:txBody>
      </p:sp>
      <p:sp>
        <p:nvSpPr>
          <p:cNvPr id="3" name="Content Placeholder 2">
            <a:extLst>
              <a:ext uri="{FF2B5EF4-FFF2-40B4-BE49-F238E27FC236}">
                <a16:creationId xmlns:a16="http://schemas.microsoft.com/office/drawing/2014/main" id="{6159856C-09AF-9B82-5739-00FBB2F4BDFC}"/>
              </a:ext>
            </a:extLst>
          </p:cNvPr>
          <p:cNvSpPr>
            <a:spLocks noGrp="1"/>
          </p:cNvSpPr>
          <p:nvPr>
            <p:ph idx="1"/>
          </p:nvPr>
        </p:nvSpPr>
        <p:spPr/>
        <p:txBody>
          <a:bodyPr/>
          <a:lstStyle/>
          <a:p>
            <a:r>
              <a:rPr lang="en-US" dirty="0"/>
              <a:t>A Library Management System (LMS) is software that automates and manages the daily activities of a library. It helps maintain records of books, members, book issues, returns, and fines in an organized and efficient way. The system reduces manual work, saves time, improves accuracy, and makes it easier to search, track, and manage library resources. Overall, it enhances the smooth functioning of library operations and provides better service to users.</a:t>
            </a:r>
            <a:endParaRPr lang="en-IN" dirty="0"/>
          </a:p>
        </p:txBody>
      </p:sp>
    </p:spTree>
    <p:extLst>
      <p:ext uri="{BB962C8B-B14F-4D97-AF65-F5344CB8AC3E}">
        <p14:creationId xmlns:p14="http://schemas.microsoft.com/office/powerpoint/2010/main" val="2380755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71C4D-2C7C-73C9-9796-E99C6C9C1D78}"/>
              </a:ext>
            </a:extLst>
          </p:cNvPr>
          <p:cNvSpPr>
            <a:spLocks noGrp="1"/>
          </p:cNvSpPr>
          <p:nvPr>
            <p:ph type="title"/>
          </p:nvPr>
        </p:nvSpPr>
        <p:spPr>
          <a:xfrm>
            <a:off x="1371600" y="892278"/>
            <a:ext cx="9601200" cy="1485900"/>
          </a:xfrm>
        </p:spPr>
        <p:txBody>
          <a:bodyPr/>
          <a:lstStyle/>
          <a:p>
            <a:r>
              <a:rPr lang="en-IN" dirty="0"/>
              <a:t> </a:t>
            </a:r>
            <a:r>
              <a:rPr lang="en-IN" b="1" u="sng" dirty="0">
                <a:solidFill>
                  <a:schemeClr val="accent5">
                    <a:lumMod val="50000"/>
                  </a:schemeClr>
                </a:solidFill>
              </a:rPr>
              <a:t>Problem Statement</a:t>
            </a:r>
          </a:p>
        </p:txBody>
      </p:sp>
      <p:sp>
        <p:nvSpPr>
          <p:cNvPr id="3" name="Content Placeholder 2">
            <a:extLst>
              <a:ext uri="{FF2B5EF4-FFF2-40B4-BE49-F238E27FC236}">
                <a16:creationId xmlns:a16="http://schemas.microsoft.com/office/drawing/2014/main" id="{FC305B31-DB10-172B-1785-D46DD83C970C}"/>
              </a:ext>
            </a:extLst>
          </p:cNvPr>
          <p:cNvSpPr>
            <a:spLocks noGrp="1"/>
          </p:cNvSpPr>
          <p:nvPr>
            <p:ph idx="1"/>
          </p:nvPr>
        </p:nvSpPr>
        <p:spPr/>
        <p:txBody>
          <a:bodyPr/>
          <a:lstStyle/>
          <a:p>
            <a:r>
              <a:rPr lang="en-US" dirty="0"/>
              <a:t>Manual library management is error‑prone and time‑consuming.</a:t>
            </a:r>
          </a:p>
          <a:p>
            <a:r>
              <a:rPr lang="en-US" dirty="0"/>
              <a:t>Tracking book availability, member borrowing, and overdue fines manually is inefficient</a:t>
            </a:r>
          </a:p>
          <a:p>
            <a:r>
              <a:rPr lang="en-US" dirty="0"/>
              <a:t>Goal: Build a digital system that:</a:t>
            </a:r>
          </a:p>
          <a:p>
            <a:r>
              <a:rPr lang="en-US" dirty="0"/>
              <a:t>Automates book and member management.</a:t>
            </a:r>
          </a:p>
          <a:p>
            <a:r>
              <a:rPr lang="en-US" dirty="0"/>
              <a:t>Tracks borrowing history with due dates.</a:t>
            </a:r>
          </a:p>
          <a:p>
            <a:r>
              <a:rPr lang="en-IN" dirty="0"/>
              <a:t>Calculates fines automatically.</a:t>
            </a:r>
          </a:p>
          <a:p>
            <a:r>
              <a:rPr lang="en-US" dirty="0"/>
              <a:t>Is scalable, portable, and production‑ready.</a:t>
            </a:r>
            <a:endParaRPr lang="en-IN" dirty="0"/>
          </a:p>
        </p:txBody>
      </p:sp>
    </p:spTree>
    <p:extLst>
      <p:ext uri="{BB962C8B-B14F-4D97-AF65-F5344CB8AC3E}">
        <p14:creationId xmlns:p14="http://schemas.microsoft.com/office/powerpoint/2010/main" val="38111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642FA-C7C7-343C-BE09-62855C4BC95D}"/>
              </a:ext>
            </a:extLst>
          </p:cNvPr>
          <p:cNvSpPr>
            <a:spLocks noGrp="1"/>
          </p:cNvSpPr>
          <p:nvPr>
            <p:ph type="title"/>
          </p:nvPr>
        </p:nvSpPr>
        <p:spPr/>
        <p:txBody>
          <a:bodyPr/>
          <a:lstStyle/>
          <a:p>
            <a:r>
              <a:rPr lang="en-IN" b="1" dirty="0">
                <a:solidFill>
                  <a:schemeClr val="accent5">
                    <a:lumMod val="50000"/>
                  </a:schemeClr>
                </a:solidFill>
              </a:rPr>
              <a:t>Complete Deployment Workflow</a:t>
            </a:r>
            <a:br>
              <a:rPr lang="en-IN" b="1" dirty="0"/>
            </a:br>
            <a:endParaRPr lang="en-IN" dirty="0"/>
          </a:p>
        </p:txBody>
      </p:sp>
      <p:pic>
        <p:nvPicPr>
          <p:cNvPr id="5" name="Content Placeholder 4">
            <a:extLst>
              <a:ext uri="{FF2B5EF4-FFF2-40B4-BE49-F238E27FC236}">
                <a16:creationId xmlns:a16="http://schemas.microsoft.com/office/drawing/2014/main" id="{BF18B4E8-C819-8583-EBEB-DE50348395EB}"/>
              </a:ext>
            </a:extLst>
          </p:cNvPr>
          <p:cNvPicPr>
            <a:picLocks noGrp="1" noChangeAspect="1"/>
          </p:cNvPicPr>
          <p:nvPr>
            <p:ph idx="1"/>
          </p:nvPr>
        </p:nvPicPr>
        <p:blipFill>
          <a:blip r:embed="rId2"/>
          <a:stretch>
            <a:fillRect/>
          </a:stretch>
        </p:blipFill>
        <p:spPr>
          <a:xfrm>
            <a:off x="2472612" y="1485511"/>
            <a:ext cx="9339943" cy="3954236"/>
          </a:xfrm>
          <a:prstGeom prst="rect">
            <a:avLst/>
          </a:prstGeom>
        </p:spPr>
      </p:pic>
      <p:sp>
        <p:nvSpPr>
          <p:cNvPr id="8" name="Rectangle 7">
            <a:extLst>
              <a:ext uri="{FF2B5EF4-FFF2-40B4-BE49-F238E27FC236}">
                <a16:creationId xmlns:a16="http://schemas.microsoft.com/office/drawing/2014/main" id="{70D71865-8252-5CF3-920D-9ECEA91448D1}"/>
              </a:ext>
            </a:extLst>
          </p:cNvPr>
          <p:cNvSpPr/>
          <p:nvPr/>
        </p:nvSpPr>
        <p:spPr>
          <a:xfrm>
            <a:off x="5999584" y="3648269"/>
            <a:ext cx="914400" cy="7557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5EE0A529-8B8C-77AC-19D5-911465951094}"/>
              </a:ext>
            </a:extLst>
          </p:cNvPr>
          <p:cNvPicPr>
            <a:picLocks noChangeAspect="1"/>
          </p:cNvPicPr>
          <p:nvPr/>
        </p:nvPicPr>
        <p:blipFill>
          <a:blip r:embed="rId3"/>
          <a:stretch>
            <a:fillRect/>
          </a:stretch>
        </p:blipFill>
        <p:spPr>
          <a:xfrm>
            <a:off x="2472612" y="5439747"/>
            <a:ext cx="2761861" cy="1306286"/>
          </a:xfrm>
          <a:prstGeom prst="rect">
            <a:avLst/>
          </a:prstGeom>
        </p:spPr>
      </p:pic>
      <p:sp>
        <p:nvSpPr>
          <p:cNvPr id="11" name="Rectangle 10">
            <a:extLst>
              <a:ext uri="{FF2B5EF4-FFF2-40B4-BE49-F238E27FC236}">
                <a16:creationId xmlns:a16="http://schemas.microsoft.com/office/drawing/2014/main" id="{A3FAA08E-9CFF-1536-2409-6670921D87CD}"/>
              </a:ext>
            </a:extLst>
          </p:cNvPr>
          <p:cNvSpPr/>
          <p:nvPr/>
        </p:nvSpPr>
        <p:spPr>
          <a:xfrm>
            <a:off x="6447453" y="3498980"/>
            <a:ext cx="2463282" cy="11873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C9A99C34-B53C-6F62-F317-5DE104646545}"/>
              </a:ext>
            </a:extLst>
          </p:cNvPr>
          <p:cNvSpPr/>
          <p:nvPr/>
        </p:nvSpPr>
        <p:spPr>
          <a:xfrm>
            <a:off x="5234473" y="5439747"/>
            <a:ext cx="6578082" cy="13062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54037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C0130-F90D-C50D-ED29-A63E284145C9}"/>
              </a:ext>
            </a:extLst>
          </p:cNvPr>
          <p:cNvSpPr>
            <a:spLocks noGrp="1"/>
          </p:cNvSpPr>
          <p:nvPr>
            <p:ph type="title"/>
          </p:nvPr>
        </p:nvSpPr>
        <p:spPr>
          <a:xfrm>
            <a:off x="1469923" y="800100"/>
            <a:ext cx="9601200" cy="1485900"/>
          </a:xfrm>
        </p:spPr>
        <p:txBody>
          <a:bodyPr/>
          <a:lstStyle/>
          <a:p>
            <a:r>
              <a:rPr lang="en-IN" b="1" dirty="0">
                <a:solidFill>
                  <a:schemeClr val="accent5">
                    <a:lumMod val="50000"/>
                  </a:schemeClr>
                </a:solidFill>
              </a:rPr>
              <a:t> </a:t>
            </a:r>
            <a:r>
              <a:rPr lang="en-IN" b="1" u="sng" dirty="0">
                <a:solidFill>
                  <a:schemeClr val="accent5">
                    <a:lumMod val="50000"/>
                  </a:schemeClr>
                </a:solidFill>
              </a:rPr>
              <a:t>Features at a Glance</a:t>
            </a:r>
          </a:p>
        </p:txBody>
      </p:sp>
      <p:sp>
        <p:nvSpPr>
          <p:cNvPr id="3" name="Content Placeholder 2">
            <a:extLst>
              <a:ext uri="{FF2B5EF4-FFF2-40B4-BE49-F238E27FC236}">
                <a16:creationId xmlns:a16="http://schemas.microsoft.com/office/drawing/2014/main" id="{85F583DF-B609-81DC-BF3E-C9E0BCFE6A95}"/>
              </a:ext>
            </a:extLst>
          </p:cNvPr>
          <p:cNvSpPr>
            <a:spLocks noGrp="1"/>
          </p:cNvSpPr>
          <p:nvPr>
            <p:ph idx="1"/>
          </p:nvPr>
        </p:nvSpPr>
        <p:spPr/>
        <p:txBody>
          <a:bodyPr/>
          <a:lstStyle/>
          <a:p>
            <a:r>
              <a:rPr lang="en-US" dirty="0"/>
              <a:t>Books: Add, edit, delete, view available copies.</a:t>
            </a:r>
          </a:p>
          <a:p>
            <a:r>
              <a:rPr lang="en-US" dirty="0"/>
              <a:t>Members: Register students with unique ID, email, phone.</a:t>
            </a:r>
          </a:p>
          <a:p>
            <a:r>
              <a:rPr lang="en-US" dirty="0"/>
              <a:t>Borrow/Return: Issue books with due date, auto‑calculate fine (₹0.50/day).</a:t>
            </a:r>
          </a:p>
          <a:p>
            <a:r>
              <a:rPr lang="en-US" dirty="0"/>
              <a:t>Fine Management: Pay fines, track paid status</a:t>
            </a:r>
          </a:p>
          <a:p>
            <a:r>
              <a:rPr lang="en-US" dirty="0"/>
              <a:t>Persistent Storage: MongoDB with data volume.</a:t>
            </a:r>
          </a:p>
          <a:p>
            <a:r>
              <a:rPr lang="en-IN" dirty="0"/>
              <a:t>Containerized: Docker for consistent environment.</a:t>
            </a:r>
          </a:p>
          <a:p>
            <a:r>
              <a:rPr lang="en-US" dirty="0"/>
              <a:t>Orchestrated: Kubernetes for scalability and self‑healing.</a:t>
            </a:r>
            <a:endParaRPr lang="en-IN" dirty="0"/>
          </a:p>
        </p:txBody>
      </p:sp>
    </p:spTree>
    <p:extLst>
      <p:ext uri="{BB962C8B-B14F-4D97-AF65-F5344CB8AC3E}">
        <p14:creationId xmlns:p14="http://schemas.microsoft.com/office/powerpoint/2010/main" val="4039402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3BA6-664D-FE76-4998-30B9C8D5C4B6}"/>
              </a:ext>
            </a:extLst>
          </p:cNvPr>
          <p:cNvSpPr>
            <a:spLocks noGrp="1"/>
          </p:cNvSpPr>
          <p:nvPr>
            <p:ph type="title"/>
          </p:nvPr>
        </p:nvSpPr>
        <p:spPr>
          <a:xfrm>
            <a:off x="1469923" y="685800"/>
            <a:ext cx="9601200" cy="1485900"/>
          </a:xfrm>
        </p:spPr>
        <p:txBody>
          <a:bodyPr/>
          <a:lstStyle/>
          <a:p>
            <a:r>
              <a:rPr lang="en-IN" b="1" u="sng" dirty="0">
                <a:solidFill>
                  <a:schemeClr val="accent5">
                    <a:lumMod val="50000"/>
                  </a:schemeClr>
                </a:solidFill>
              </a:rPr>
              <a:t>Technology Stack</a:t>
            </a:r>
          </a:p>
        </p:txBody>
      </p:sp>
      <p:sp>
        <p:nvSpPr>
          <p:cNvPr id="3" name="Content Placeholder 2">
            <a:extLst>
              <a:ext uri="{FF2B5EF4-FFF2-40B4-BE49-F238E27FC236}">
                <a16:creationId xmlns:a16="http://schemas.microsoft.com/office/drawing/2014/main" id="{EFB2ACFB-FB84-7C5F-43CF-662B9AE8AA13}"/>
              </a:ext>
            </a:extLst>
          </p:cNvPr>
          <p:cNvSpPr>
            <a:spLocks noGrp="1"/>
          </p:cNvSpPr>
          <p:nvPr>
            <p:ph idx="1"/>
          </p:nvPr>
        </p:nvSpPr>
        <p:spPr>
          <a:xfrm>
            <a:off x="1371600" y="1838632"/>
            <a:ext cx="9601200" cy="4857136"/>
          </a:xfrm>
        </p:spPr>
        <p:txBody>
          <a:bodyPr>
            <a:normAutofit/>
          </a:bodyPr>
          <a:lstStyle/>
          <a:p>
            <a:r>
              <a:rPr lang="en-US" dirty="0"/>
              <a:t>I chose a modern stack that balances simplicity with power:</a:t>
            </a:r>
          </a:p>
          <a:p>
            <a:r>
              <a:rPr lang="en-US" b="1" dirty="0"/>
              <a:t>Frontend</a:t>
            </a:r>
            <a:r>
              <a:rPr lang="en-US" dirty="0"/>
              <a:t>:  Pure HTML, CSS, and JavaScript – no frameworks, which keeps it lightweight and fast, and demonstrates that I can work with core web technologies.</a:t>
            </a:r>
          </a:p>
          <a:p>
            <a:r>
              <a:rPr lang="en-US" b="1" dirty="0"/>
              <a:t>Backend</a:t>
            </a:r>
            <a:r>
              <a:rPr lang="en-US" dirty="0"/>
              <a:t>: Node.js with Express – provides a robust RESTful API layer.</a:t>
            </a:r>
          </a:p>
          <a:p>
            <a:r>
              <a:rPr lang="en-US" b="1" dirty="0"/>
              <a:t>Database</a:t>
            </a:r>
            <a:r>
              <a:rPr lang="en-US" dirty="0"/>
              <a:t>: MongoDB – a NoSQL database that stores data as flexible JSON documents, perfect for the varied structure of books, members, and borrow records. I used Mongoose as an ODM for schema validation and data modeling.</a:t>
            </a:r>
          </a:p>
          <a:p>
            <a:r>
              <a:rPr lang="en-US" b="1" dirty="0"/>
              <a:t>Containerization</a:t>
            </a:r>
            <a:r>
              <a:rPr lang="en-US" dirty="0"/>
              <a:t>: Docker – to package the application and its dependencies into isolated containers, ensuring consistent behavior across environments.</a:t>
            </a:r>
          </a:p>
          <a:p>
            <a:r>
              <a:rPr lang="en-US" b="1" dirty="0"/>
              <a:t>Orchestration</a:t>
            </a:r>
            <a:r>
              <a:rPr lang="en-US" dirty="0"/>
              <a:t>: Kubernetes – specifically, the built‑in Kubernetes in Docker Desktop. This allows me to deploy, scale, and manage the containers, providing self‑healing, load balancing, and persistent storage.</a:t>
            </a:r>
            <a:endParaRPr lang="en-IN" dirty="0"/>
          </a:p>
        </p:txBody>
      </p:sp>
    </p:spTree>
    <p:extLst>
      <p:ext uri="{BB962C8B-B14F-4D97-AF65-F5344CB8AC3E}">
        <p14:creationId xmlns:p14="http://schemas.microsoft.com/office/powerpoint/2010/main" val="3001664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38355-AB92-911E-936D-B7E4760273ED}"/>
              </a:ext>
            </a:extLst>
          </p:cNvPr>
          <p:cNvSpPr>
            <a:spLocks noGrp="1"/>
          </p:cNvSpPr>
          <p:nvPr>
            <p:ph type="title"/>
          </p:nvPr>
        </p:nvSpPr>
        <p:spPr>
          <a:xfrm>
            <a:off x="1295400" y="685800"/>
            <a:ext cx="9601200" cy="1485900"/>
          </a:xfrm>
        </p:spPr>
        <p:txBody>
          <a:bodyPr/>
          <a:lstStyle/>
          <a:p>
            <a:r>
              <a:rPr lang="en-IN" b="1" u="sng" dirty="0">
                <a:solidFill>
                  <a:schemeClr val="accent5">
                    <a:lumMod val="50000"/>
                  </a:schemeClr>
                </a:solidFill>
              </a:rPr>
              <a:t>System Architecture</a:t>
            </a:r>
          </a:p>
        </p:txBody>
      </p:sp>
      <p:pic>
        <p:nvPicPr>
          <p:cNvPr id="5" name="Content Placeholder 4">
            <a:extLst>
              <a:ext uri="{FF2B5EF4-FFF2-40B4-BE49-F238E27FC236}">
                <a16:creationId xmlns:a16="http://schemas.microsoft.com/office/drawing/2014/main" id="{FA21E69F-1F05-59D8-B54D-99B8DBB7F66B}"/>
              </a:ext>
            </a:extLst>
          </p:cNvPr>
          <p:cNvPicPr>
            <a:picLocks noGrp="1" noChangeAspect="1"/>
          </p:cNvPicPr>
          <p:nvPr>
            <p:ph idx="1"/>
          </p:nvPr>
        </p:nvPicPr>
        <p:blipFill>
          <a:blip r:embed="rId2"/>
          <a:stretch>
            <a:fillRect/>
          </a:stretch>
        </p:blipFill>
        <p:spPr>
          <a:xfrm>
            <a:off x="7245738" y="0"/>
            <a:ext cx="4421239" cy="6858000"/>
          </a:xfrm>
          <a:prstGeom prst="rect">
            <a:avLst/>
          </a:prstGeom>
        </p:spPr>
      </p:pic>
      <p:sp>
        <p:nvSpPr>
          <p:cNvPr id="7" name="TextBox 6">
            <a:extLst>
              <a:ext uri="{FF2B5EF4-FFF2-40B4-BE49-F238E27FC236}">
                <a16:creationId xmlns:a16="http://schemas.microsoft.com/office/drawing/2014/main" id="{71666156-66B0-0034-9DAA-B9D649E60609}"/>
              </a:ext>
            </a:extLst>
          </p:cNvPr>
          <p:cNvSpPr txBox="1"/>
          <p:nvPr/>
        </p:nvSpPr>
        <p:spPr>
          <a:xfrm>
            <a:off x="1295400" y="1670180"/>
            <a:ext cx="5113176" cy="3139321"/>
          </a:xfrm>
          <a:prstGeom prst="rect">
            <a:avLst/>
          </a:prstGeom>
          <a:noFill/>
        </p:spPr>
        <p:txBody>
          <a:bodyPr wrap="square" rtlCol="0">
            <a:spAutoFit/>
          </a:bodyPr>
          <a:lstStyle/>
          <a:p>
            <a:r>
              <a:rPr lang="en-US" b="1" dirty="0"/>
              <a:t>User’s Browser </a:t>
            </a:r>
            <a:r>
              <a:rPr lang="en-US" dirty="0"/>
              <a:t>– serves the static frontend files (HTML, CSS, JS) from the backend.</a:t>
            </a:r>
          </a:p>
          <a:p>
            <a:endParaRPr lang="en-US" dirty="0"/>
          </a:p>
          <a:p>
            <a:r>
              <a:rPr lang="en-US" b="1" dirty="0"/>
              <a:t>Backend Service (Node.js) </a:t>
            </a:r>
            <a:r>
              <a:rPr lang="en-US" dirty="0"/>
              <a:t>– exposes REST endpoints that the frontend calls. It handles business logic, such as validating inputs, updating book availability, and calculating fines.</a:t>
            </a:r>
          </a:p>
          <a:p>
            <a:endParaRPr lang="en-US" dirty="0"/>
          </a:p>
          <a:p>
            <a:r>
              <a:rPr lang="en-US" b="1" dirty="0"/>
              <a:t>MongoDB Database </a:t>
            </a:r>
            <a:r>
              <a:rPr lang="en-US" dirty="0"/>
              <a:t>– stores all persistent data. The backend communicates with it using Mongoose.</a:t>
            </a:r>
          </a:p>
        </p:txBody>
      </p:sp>
    </p:spTree>
    <p:extLst>
      <p:ext uri="{BB962C8B-B14F-4D97-AF65-F5344CB8AC3E}">
        <p14:creationId xmlns:p14="http://schemas.microsoft.com/office/powerpoint/2010/main" val="2581210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947E0-115F-BC46-3A7C-63763F003C95}"/>
              </a:ext>
            </a:extLst>
          </p:cNvPr>
          <p:cNvSpPr>
            <a:spLocks noGrp="1"/>
          </p:cNvSpPr>
          <p:nvPr>
            <p:ph type="title"/>
          </p:nvPr>
        </p:nvSpPr>
        <p:spPr/>
        <p:txBody>
          <a:bodyPr/>
          <a:lstStyle/>
          <a:p>
            <a:r>
              <a:rPr lang="en-IN" dirty="0"/>
              <a:t> </a:t>
            </a:r>
            <a:r>
              <a:rPr lang="en-IN" b="1" u="sng" dirty="0">
                <a:solidFill>
                  <a:schemeClr val="accent5">
                    <a:lumMod val="50000"/>
                  </a:schemeClr>
                </a:solidFill>
              </a:rPr>
              <a:t>Challenges and Solutions</a:t>
            </a:r>
          </a:p>
        </p:txBody>
      </p:sp>
      <p:sp>
        <p:nvSpPr>
          <p:cNvPr id="3" name="Content Placeholder 2">
            <a:extLst>
              <a:ext uri="{FF2B5EF4-FFF2-40B4-BE49-F238E27FC236}">
                <a16:creationId xmlns:a16="http://schemas.microsoft.com/office/drawing/2014/main" id="{F9FD61F0-5F67-4D0F-F507-7E8D2562861F}"/>
              </a:ext>
            </a:extLst>
          </p:cNvPr>
          <p:cNvSpPr>
            <a:spLocks noGrp="1"/>
          </p:cNvSpPr>
          <p:nvPr>
            <p:ph idx="1"/>
          </p:nvPr>
        </p:nvSpPr>
        <p:spPr>
          <a:xfrm>
            <a:off x="1614196" y="1567543"/>
            <a:ext cx="9601200" cy="4730620"/>
          </a:xfrm>
        </p:spPr>
        <p:txBody>
          <a:bodyPr/>
          <a:lstStyle/>
          <a:p>
            <a:r>
              <a:rPr lang="en-IN" b="1" dirty="0"/>
              <a:t>Data persistence in Kubernetes:</a:t>
            </a:r>
          </a:p>
          <a:p>
            <a:pPr marL="0" indent="0">
              <a:buNone/>
            </a:pPr>
            <a:r>
              <a:rPr lang="en-US" dirty="0"/>
              <a:t>Without a Persistent Volume Claim, MongoDB would lose all data when the pod restarts. Adding a PVC solved that, and Kubernetes binds it to a persistent volume automatically (in Docker Desktop, it uses a local host path).</a:t>
            </a:r>
          </a:p>
          <a:p>
            <a:r>
              <a:rPr lang="en-US" b="1" dirty="0"/>
              <a:t>Fine calculation across time zones:</a:t>
            </a:r>
          </a:p>
          <a:p>
            <a:pPr marL="0" indent="0">
              <a:buNone/>
            </a:pPr>
            <a:r>
              <a:rPr lang="en-US" dirty="0"/>
              <a:t>Date comparisons can be tricky. I ensured all dates are stored and compared in UTC by using JavaScript’s Date objects and performing calculations on milliseconds. Converting to days with </a:t>
            </a:r>
            <a:r>
              <a:rPr lang="en-US" dirty="0" err="1"/>
              <a:t>Math.ceil</a:t>
            </a:r>
            <a:r>
              <a:rPr lang="en-US" dirty="0"/>
              <a:t> handles partial days correctly.</a:t>
            </a:r>
          </a:p>
          <a:p>
            <a:r>
              <a:rPr lang="en-US" b="1" dirty="0"/>
              <a:t>Connecting backend to MongoDB inside containers</a:t>
            </a:r>
          </a:p>
          <a:p>
            <a:pPr marL="0" indent="0">
              <a:buNone/>
            </a:pPr>
            <a:r>
              <a:rPr lang="en-US" dirty="0"/>
              <a:t>Initially, the backend couldn’t connect because it was looking for localhost. The solution was to use the service name </a:t>
            </a:r>
            <a:r>
              <a:rPr lang="en-US" dirty="0" err="1"/>
              <a:t>mongodb</a:t>
            </a:r>
            <a:r>
              <a:rPr lang="en-US" dirty="0"/>
              <a:t> as the hostname in the connection string, which works because Docker Compose and Kubernetes both provide internal DNS resolution.</a:t>
            </a:r>
          </a:p>
          <a:p>
            <a:endParaRPr lang="en-US" b="1" dirty="0"/>
          </a:p>
          <a:p>
            <a:endParaRPr lang="en-IN" dirty="0"/>
          </a:p>
        </p:txBody>
      </p:sp>
    </p:spTree>
    <p:extLst>
      <p:ext uri="{BB962C8B-B14F-4D97-AF65-F5344CB8AC3E}">
        <p14:creationId xmlns:p14="http://schemas.microsoft.com/office/powerpoint/2010/main" val="3838914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474CA-A9BE-DA57-C36F-EDB9FF6D5CFD}"/>
              </a:ext>
            </a:extLst>
          </p:cNvPr>
          <p:cNvSpPr>
            <a:spLocks noGrp="1"/>
          </p:cNvSpPr>
          <p:nvPr>
            <p:ph type="title"/>
          </p:nvPr>
        </p:nvSpPr>
        <p:spPr>
          <a:xfrm>
            <a:off x="1446245" y="800100"/>
            <a:ext cx="9601200" cy="1485900"/>
          </a:xfrm>
        </p:spPr>
        <p:txBody>
          <a:bodyPr/>
          <a:lstStyle/>
          <a:p>
            <a:r>
              <a:rPr lang="en-IN" dirty="0"/>
              <a:t> </a:t>
            </a:r>
            <a:r>
              <a:rPr lang="en-IN" b="1" u="sng" dirty="0">
                <a:solidFill>
                  <a:schemeClr val="accent5">
                    <a:lumMod val="50000"/>
                  </a:schemeClr>
                </a:solidFill>
              </a:rPr>
              <a:t>Future Enhancements</a:t>
            </a:r>
          </a:p>
        </p:txBody>
      </p:sp>
      <p:sp>
        <p:nvSpPr>
          <p:cNvPr id="3" name="Content Placeholder 2">
            <a:extLst>
              <a:ext uri="{FF2B5EF4-FFF2-40B4-BE49-F238E27FC236}">
                <a16:creationId xmlns:a16="http://schemas.microsoft.com/office/drawing/2014/main" id="{41D52565-FCBB-1C36-32F6-1ED8D5A61970}"/>
              </a:ext>
            </a:extLst>
          </p:cNvPr>
          <p:cNvSpPr>
            <a:spLocks noGrp="1"/>
          </p:cNvSpPr>
          <p:nvPr>
            <p:ph idx="1"/>
          </p:nvPr>
        </p:nvSpPr>
        <p:spPr/>
        <p:txBody>
          <a:bodyPr/>
          <a:lstStyle/>
          <a:p>
            <a:r>
              <a:rPr lang="en-US" dirty="0"/>
              <a:t>Search &amp; Filter – find books/members quickly</a:t>
            </a:r>
          </a:p>
          <a:p>
            <a:r>
              <a:rPr lang="en-IN" dirty="0"/>
              <a:t>Authentication &amp; Authorization – librarian login.</a:t>
            </a:r>
          </a:p>
          <a:p>
            <a:r>
              <a:rPr lang="en-US" dirty="0"/>
              <a:t>Email Notifications – reminders for due dates.</a:t>
            </a:r>
          </a:p>
          <a:p>
            <a:r>
              <a:rPr lang="en-US" dirty="0"/>
              <a:t>Barcode/QR Code Scanning – faster check‑in/out.</a:t>
            </a:r>
          </a:p>
          <a:p>
            <a:r>
              <a:rPr lang="en-US" dirty="0"/>
              <a:t>Analytics Dashboard – most borrowed books, fines collected</a:t>
            </a:r>
            <a:endParaRPr lang="en-IN" dirty="0"/>
          </a:p>
        </p:txBody>
      </p:sp>
    </p:spTree>
    <p:extLst>
      <p:ext uri="{BB962C8B-B14F-4D97-AF65-F5344CB8AC3E}">
        <p14:creationId xmlns:p14="http://schemas.microsoft.com/office/powerpoint/2010/main" val="2342608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E1103C-1505-0CD4-EF4C-3625C7F81472}"/>
              </a:ext>
            </a:extLst>
          </p:cNvPr>
          <p:cNvPicPr>
            <a:picLocks noChangeAspect="1"/>
          </p:cNvPicPr>
          <p:nvPr/>
        </p:nvPicPr>
        <p:blipFill>
          <a:blip r:embed="rId2"/>
          <a:stretch>
            <a:fillRect/>
          </a:stretch>
        </p:blipFill>
        <p:spPr>
          <a:xfrm>
            <a:off x="0" y="0"/>
            <a:ext cx="12111135" cy="6858000"/>
          </a:xfrm>
          <a:prstGeom prst="rect">
            <a:avLst/>
          </a:prstGeom>
        </p:spPr>
      </p:pic>
    </p:spTree>
    <p:extLst>
      <p:ext uri="{BB962C8B-B14F-4D97-AF65-F5344CB8AC3E}">
        <p14:creationId xmlns:p14="http://schemas.microsoft.com/office/powerpoint/2010/main" val="3650952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0D7F-4A55-A332-CFE5-672F0549FE13}"/>
              </a:ext>
            </a:extLst>
          </p:cNvPr>
          <p:cNvSpPr>
            <a:spLocks noGrp="1"/>
          </p:cNvSpPr>
          <p:nvPr>
            <p:ph type="title"/>
          </p:nvPr>
        </p:nvSpPr>
        <p:spPr/>
        <p:txBody>
          <a:bodyPr/>
          <a:lstStyle/>
          <a:p>
            <a:r>
              <a:rPr lang="en-IN" b="1" u="sng" dirty="0">
                <a:solidFill>
                  <a:schemeClr val="accent5">
                    <a:lumMod val="50000"/>
                  </a:schemeClr>
                </a:solidFill>
              </a:rPr>
              <a:t>Conclusion</a:t>
            </a:r>
          </a:p>
        </p:txBody>
      </p:sp>
      <p:sp>
        <p:nvSpPr>
          <p:cNvPr id="3" name="Content Placeholder 2">
            <a:extLst>
              <a:ext uri="{FF2B5EF4-FFF2-40B4-BE49-F238E27FC236}">
                <a16:creationId xmlns:a16="http://schemas.microsoft.com/office/drawing/2014/main" id="{1FE18E5F-7F8A-D244-A8E6-E44AA88C8EC4}"/>
              </a:ext>
            </a:extLst>
          </p:cNvPr>
          <p:cNvSpPr>
            <a:spLocks noGrp="1"/>
          </p:cNvSpPr>
          <p:nvPr>
            <p:ph idx="1"/>
          </p:nvPr>
        </p:nvSpPr>
        <p:spPr>
          <a:xfrm>
            <a:off x="1436914" y="1800809"/>
            <a:ext cx="9601200" cy="3581400"/>
          </a:xfrm>
        </p:spPr>
        <p:txBody>
          <a:bodyPr/>
          <a:lstStyle/>
          <a:p>
            <a:r>
              <a:rPr lang="en-US" dirty="0"/>
              <a:t>Successfully built a full‑stack library management system.</a:t>
            </a:r>
          </a:p>
          <a:p>
            <a:r>
              <a:rPr lang="en-US" dirty="0"/>
              <a:t>Implemented core features: CRUD, borrowing, fine calculation.</a:t>
            </a:r>
          </a:p>
          <a:p>
            <a:r>
              <a:rPr lang="en-US" dirty="0"/>
              <a:t>Containerized with Docker for portability.</a:t>
            </a:r>
          </a:p>
          <a:p>
            <a:r>
              <a:rPr lang="en-US" dirty="0"/>
              <a:t>Deployed on Kubernetes for scalability and resilience.</a:t>
            </a:r>
          </a:p>
          <a:p>
            <a:r>
              <a:rPr lang="en-US" dirty="0"/>
              <a:t>Demonstrates proficiency in modern DevOps practices.</a:t>
            </a:r>
            <a:endParaRPr lang="en-IN" dirty="0"/>
          </a:p>
        </p:txBody>
      </p:sp>
    </p:spTree>
    <p:extLst>
      <p:ext uri="{BB962C8B-B14F-4D97-AF65-F5344CB8AC3E}">
        <p14:creationId xmlns:p14="http://schemas.microsoft.com/office/powerpoint/2010/main" val="3540719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429582-3993-E170-748C-5451387E3D2E}"/>
              </a:ext>
            </a:extLst>
          </p:cNvPr>
          <p:cNvSpPr txBox="1"/>
          <p:nvPr/>
        </p:nvSpPr>
        <p:spPr>
          <a:xfrm>
            <a:off x="3580623" y="1667461"/>
            <a:ext cx="6097554" cy="1323439"/>
          </a:xfrm>
          <a:prstGeom prst="rect">
            <a:avLst/>
          </a:prstGeom>
          <a:noFill/>
        </p:spPr>
        <p:txBody>
          <a:bodyPr wrap="square">
            <a:spAutoFit/>
          </a:bodyPr>
          <a:lstStyle/>
          <a:p>
            <a:r>
              <a:rPr lang="en-IN" sz="8000" b="1" dirty="0">
                <a:solidFill>
                  <a:schemeClr val="accent5">
                    <a:lumMod val="50000"/>
                  </a:schemeClr>
                </a:solidFill>
              </a:rPr>
              <a:t>Thank you! </a:t>
            </a:r>
          </a:p>
        </p:txBody>
      </p:sp>
    </p:spTree>
    <p:extLst>
      <p:ext uri="{BB962C8B-B14F-4D97-AF65-F5344CB8AC3E}">
        <p14:creationId xmlns:p14="http://schemas.microsoft.com/office/powerpoint/2010/main" val="349837417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{03D72EFC-417F-4324-89B3-0532EC2B8D2B}TFc3084226-2d0c-440f-9f46-6b48c7a7f670e6ba4a85-fc4a2881d6b3</Template>
  <TotalTime>112</TotalTime>
  <Words>739</Words>
  <Application>Microsoft Office PowerPoint</Application>
  <PresentationFormat>Widescreen</PresentationFormat>
  <Paragraphs>56</Paragraphs>
  <Slides>12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Franklin Gothic Book</vt:lpstr>
      <vt:lpstr>Crop</vt:lpstr>
      <vt:lpstr>Containerized CRUD Web Application Deployment using Docker and Kubernetes</vt:lpstr>
      <vt:lpstr>Introduction to Library Management System</vt:lpstr>
      <vt:lpstr> Problem Statement</vt:lpstr>
      <vt:lpstr>Complete Deployment Workflow </vt:lpstr>
      <vt:lpstr> Features at a Glance</vt:lpstr>
      <vt:lpstr>Technology Stack</vt:lpstr>
      <vt:lpstr>System Architecture</vt:lpstr>
      <vt:lpstr> Challenges and Solutions</vt:lpstr>
      <vt:lpstr> Future Enhancements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 Raj</dc:creator>
  <cp:lastModifiedBy>Aman Raj</cp:lastModifiedBy>
  <cp:revision>1</cp:revision>
  <dcterms:created xsi:type="dcterms:W3CDTF">2026-02-27T10:32:54Z</dcterms:created>
  <dcterms:modified xsi:type="dcterms:W3CDTF">2026-02-27T12:25:23Z</dcterms:modified>
</cp:coreProperties>
</file>